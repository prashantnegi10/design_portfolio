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1" r:id="rId2"/>
    <p:sldId id="292" r:id="rId3"/>
    <p:sldId id="293" r:id="rId4"/>
    <p:sldId id="294" r:id="rId5"/>
    <p:sldId id="295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4A8"/>
    <a:srgbClr val="DFF0EF"/>
    <a:srgbClr val="E9EBEE"/>
    <a:srgbClr val="A2DB2C"/>
    <a:srgbClr val="B9244A"/>
    <a:srgbClr val="C54E6F"/>
    <a:srgbClr val="062844"/>
    <a:srgbClr val="97E7F1"/>
    <a:srgbClr val="11C4D5"/>
    <a:srgbClr val="0D9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87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C1063-E40D-4A6C-8080-B376838B4D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56F7-BC86-46FB-9E19-1578ADFB2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8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9FF8-5933-80BB-DA12-957BE3DA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E72D9-F6A6-1487-5590-2978B3FF0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3B00D-A224-815F-7384-C02F2E11B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31CA1-642A-5841-6FE6-9D00D52A0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83848-2391-44B6-B291-089FA6BD7D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86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83848-2391-44B6-B291-089FA6BD7D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2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A923-8FAB-B097-97AB-584060D1A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079E3-E431-D292-B7CA-6135B55D9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5A00E-082F-855F-43A4-C0C75473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24C64-100D-8172-A19F-7A41984D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88A0C-B33F-C6D6-C57A-A3DEC42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1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5258-AE9A-5EBF-7168-175A314B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EC4DA-45DE-023A-BA0A-35AD1FD57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7A9A3-E7D4-6F8D-BD28-D879269C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C054A-01EA-B603-FD27-731BFDB8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4E3D9-4E8A-CB2F-00E1-31371F1D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328A-FC5E-E049-DFFA-3A439D33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DCDF2-8E6B-A2E8-324C-F054590E8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ED239-56BB-0EE5-7612-A4F30562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B3FCD-49EA-52F7-72E1-727A9A21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F40F1-6163-767E-06C9-9C2D8F0A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4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0935-DE1B-E5F8-1C36-EF39B709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92D06-AA98-6BD0-F0DC-FF462E21D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D99-42F1-0286-FCA7-4B2FA58DB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A637B-1F2A-72BF-A9D2-AC705950A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8413B-8C31-2609-4654-E6E67433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7E62B-69E0-A887-C3E8-9FE538F9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3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468B-5548-EE4C-E575-CBEC35BB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3D2E6-6619-2452-7536-6472EEEA9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4052C-C2B8-DC0C-ACEF-3E9D378E3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B8E34-B4D3-06AC-D4E9-B359CFE56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32222-0C5E-AEDD-55E6-77EB75774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36F3D-70D3-DFA1-6F83-4715CEEA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3D227-BD25-C0BC-8AB9-39BDDBCE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2CAF6-46F9-125C-8A37-F1921EA9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42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188C-3BC0-D1BE-6732-77E7ADBA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365126"/>
            <a:ext cx="11567160" cy="618100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8818E-3E1D-F399-9244-33A098BD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093F8-64E9-DB90-1599-4E2A57DB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561BD-ADEC-5521-4367-FD83C98D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794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280C7-F601-0E76-8985-A92BF897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AAC33-3400-47D3-FF64-62CA41F3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812CB-2662-8E0E-9F20-1CE3D36F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20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001D-BA16-65C9-56DB-D3C287D8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26F6E-827A-CF56-48E4-7D6F78481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E14C5-76E8-1B44-280F-886CC6DD8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791CE-6F5F-BE80-ED96-CF5DD0C3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1DFE3-F01C-5F55-B324-64777359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981CE-B463-B7B6-0A0B-71B0E12D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F297-A1A8-AA01-268A-D6D63356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65311-3819-830A-E0C2-07E42EBEA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EDDE8-CFDA-E088-00AC-E78E3FF10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A974-3B2A-11BB-6E3D-BFF7AF0D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38476-D857-7805-6C37-A8BBF133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A0320-7CF0-88C7-D414-ECA6E65A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0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4B22-B781-9F57-3095-B7E288C0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A1C86-E05F-B4C0-BCAA-C5B94E79B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3A5ED-35D9-441B-07EF-3F3D06FF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84E6-9F12-3782-A945-E00AD879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29BD9-656D-F507-1A53-CC0865DE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D11C3-3F58-FF82-585F-A4D2BD1A1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FB6A-0C92-C2B0-EDC1-B9F2F0F3E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76B35-99D7-61A7-8751-FE2D31A5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67C2-0B89-8454-FD93-A8426B55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C38DA-4FF1-075A-366B-6558CF8A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5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5D74A-E8DB-02F8-B509-CD4D8533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432A9-9D93-6DA9-3BC9-6A7DA7B47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E8F70-C9A7-EDEB-AC64-EDE884449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40931-EB0E-4F6E-8266-05C1BE702C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67257-B17D-1344-5CD2-274A5C5E6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1B308-6630-4B1C-2C6E-CBF7267E2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4F36F-A8A0-4745-B544-7071C73F432B}" type="slidenum">
              <a:rPr lang="en-US" smtClean="0"/>
              <a:t>‹#›</a:t>
            </a:fld>
            <a:endParaRPr lang="en-US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422373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24B4-889A-EB85-BF93-90AA3C40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14AFC6D-FBC5-806E-6960-AE718D2894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1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27" r="40741"/>
          <a:stretch>
            <a:fillRect/>
          </a:stretch>
        </p:blipFill>
        <p:spPr>
          <a:xfrm>
            <a:off x="6489700" y="0"/>
            <a:ext cx="57023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106575-8727-CB40-EE6C-9FACA7DABD3A}"/>
              </a:ext>
            </a:extLst>
          </p:cNvPr>
          <p:cNvSpPr/>
          <p:nvPr/>
        </p:nvSpPr>
        <p:spPr>
          <a:xfrm>
            <a:off x="0" y="1"/>
            <a:ext cx="7277100" cy="6857999"/>
          </a:xfrm>
          <a:custGeom>
            <a:avLst/>
            <a:gdLst>
              <a:gd name="csX0" fmla="*/ 0 w 7277100"/>
              <a:gd name="csY0" fmla="*/ 0 h 6857999"/>
              <a:gd name="csX1" fmla="*/ 7277100 w 7277100"/>
              <a:gd name="csY1" fmla="*/ 0 h 6857999"/>
              <a:gd name="csX2" fmla="*/ 7277100 w 7277100"/>
              <a:gd name="csY2" fmla="*/ 6857999 h 6857999"/>
              <a:gd name="csX3" fmla="*/ 0 w 7277100"/>
              <a:gd name="csY3" fmla="*/ 6857999 h 6857999"/>
              <a:gd name="csX4" fmla="*/ 0 w 7277100"/>
              <a:gd name="csY4" fmla="*/ 0 h 6857999"/>
              <a:gd name="csX0" fmla="*/ 0 w 7277100"/>
              <a:gd name="csY0" fmla="*/ 0 h 6857999"/>
              <a:gd name="csX1" fmla="*/ 7277100 w 7277100"/>
              <a:gd name="csY1" fmla="*/ 0 h 6857999"/>
              <a:gd name="csX2" fmla="*/ 6667500 w 7277100"/>
              <a:gd name="csY2" fmla="*/ 6857999 h 6857999"/>
              <a:gd name="csX3" fmla="*/ 0 w 7277100"/>
              <a:gd name="csY3" fmla="*/ 6857999 h 6857999"/>
              <a:gd name="csX4" fmla="*/ 0 w 7277100"/>
              <a:gd name="csY4" fmla="*/ 0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77100" h="6857999">
                <a:moveTo>
                  <a:pt x="0" y="0"/>
                </a:moveTo>
                <a:lnTo>
                  <a:pt x="7277100" y="0"/>
                </a:lnTo>
                <a:lnTo>
                  <a:pt x="6667500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684F7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71987232-BC11-FAD2-AEDB-D9929166CADA}"/>
              </a:ext>
            </a:extLst>
          </p:cNvPr>
          <p:cNvSpPr/>
          <p:nvPr/>
        </p:nvSpPr>
        <p:spPr>
          <a:xfrm>
            <a:off x="6718300" y="0"/>
            <a:ext cx="838200" cy="6858000"/>
          </a:xfrm>
          <a:prstGeom prst="parallelogram">
            <a:avLst>
              <a:gd name="adj" fmla="val 71504"/>
            </a:avLst>
          </a:prstGeom>
          <a:gradFill flip="none" rotWithShape="1">
            <a:gsLst>
              <a:gs pos="0">
                <a:srgbClr val="523761"/>
              </a:gs>
              <a:gs pos="100000">
                <a:srgbClr val="CDABBE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60A116E5-3520-DC9F-B4E7-D4BE61340756}"/>
              </a:ext>
            </a:extLst>
          </p:cNvPr>
          <p:cNvSpPr/>
          <p:nvPr/>
        </p:nvSpPr>
        <p:spPr>
          <a:xfrm>
            <a:off x="7004050" y="0"/>
            <a:ext cx="838200" cy="6858000"/>
          </a:xfrm>
          <a:prstGeom prst="parallelogram">
            <a:avLst>
              <a:gd name="adj" fmla="val 71504"/>
            </a:avLst>
          </a:prstGeom>
          <a:gradFill flip="none" rotWithShape="1">
            <a:gsLst>
              <a:gs pos="0">
                <a:srgbClr val="523761"/>
              </a:gs>
              <a:gs pos="100000">
                <a:srgbClr val="CDABBE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E802224C-70FE-A5B2-DFA8-4EC0B0639298}"/>
              </a:ext>
            </a:extLst>
          </p:cNvPr>
          <p:cNvSpPr/>
          <p:nvPr/>
        </p:nvSpPr>
        <p:spPr>
          <a:xfrm>
            <a:off x="7302500" y="0"/>
            <a:ext cx="838200" cy="6858000"/>
          </a:xfrm>
          <a:prstGeom prst="parallelogram">
            <a:avLst>
              <a:gd name="adj" fmla="val 71504"/>
            </a:avLst>
          </a:prstGeom>
          <a:gradFill flip="none" rotWithShape="1">
            <a:gsLst>
              <a:gs pos="0">
                <a:srgbClr val="523761"/>
              </a:gs>
              <a:gs pos="100000">
                <a:srgbClr val="CDABBE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507F988-7B56-9077-AFB4-CDEE8D7568EF}"/>
              </a:ext>
            </a:extLst>
          </p:cNvPr>
          <p:cNvSpPr/>
          <p:nvPr/>
        </p:nvSpPr>
        <p:spPr>
          <a:xfrm flipV="1">
            <a:off x="11074400" y="0"/>
            <a:ext cx="838200" cy="6858000"/>
          </a:xfrm>
          <a:prstGeom prst="parallelogram">
            <a:avLst>
              <a:gd name="adj" fmla="val 71504"/>
            </a:avLst>
          </a:prstGeom>
          <a:gradFill flip="none" rotWithShape="1">
            <a:gsLst>
              <a:gs pos="0">
                <a:srgbClr val="523761"/>
              </a:gs>
              <a:gs pos="100000">
                <a:srgbClr val="CDABBE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BA24AC3D-255A-D1AB-3BB2-239FE176021E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tTriangle">
            <a:avLst/>
          </a:prstGeom>
          <a:solidFill>
            <a:schemeClr val="tx1">
              <a:alpha val="2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B27D8-BDBB-7015-966C-CA60DD24B45B}"/>
              </a:ext>
            </a:extLst>
          </p:cNvPr>
          <p:cNvSpPr txBox="1"/>
          <p:nvPr/>
        </p:nvSpPr>
        <p:spPr>
          <a:xfrm>
            <a:off x="787400" y="2214472"/>
            <a:ext cx="570230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ptos ExtraBold" panose="020B0004020202020204" pitchFamily="34" charset="0"/>
              </a:rPr>
              <a:t>CORPORATE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3247D-4ACF-5A64-B749-D5571EEC74EC}"/>
              </a:ext>
            </a:extLst>
          </p:cNvPr>
          <p:cNvSpPr txBox="1"/>
          <p:nvPr/>
        </p:nvSpPr>
        <p:spPr>
          <a:xfrm>
            <a:off x="787400" y="3968798"/>
            <a:ext cx="57023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Light" panose="020B0004020202020204" pitchFamily="34" charset="0"/>
              </a:rPr>
              <a:t>Talent Sourced, Success Delivered.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FF414-180E-72BA-C421-80EB810C7A4D}"/>
              </a:ext>
            </a:extLst>
          </p:cNvPr>
          <p:cNvSpPr txBox="1"/>
          <p:nvPr/>
        </p:nvSpPr>
        <p:spPr>
          <a:xfrm>
            <a:off x="787400" y="5813937"/>
            <a:ext cx="57023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Light" panose="020B0004020202020204" pitchFamily="34" charset="0"/>
              </a:rPr>
              <a:t>March, 2026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573E183A-4420-F7FA-9870-494B17D49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79889"/>
            <a:ext cx="2619217" cy="67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664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1B1E588-83AA-DF98-E9D0-8E4F350C7BBA}"/>
              </a:ext>
            </a:extLst>
          </p:cNvPr>
          <p:cNvSpPr/>
          <p:nvPr/>
        </p:nvSpPr>
        <p:spPr>
          <a:xfrm>
            <a:off x="-1394297" y="4437736"/>
            <a:ext cx="3437106" cy="3437106"/>
          </a:xfrm>
          <a:prstGeom prst="ellipse">
            <a:avLst/>
          </a:prstGeom>
          <a:pattFill prst="wdDnDiag">
            <a:fgClr>
              <a:srgbClr val="684F76"/>
            </a:fgClr>
            <a:bgClr>
              <a:srgbClr val="E8E5EB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D3C7BFC7-9915-52A2-77F0-EFB768ADAD03}"/>
              </a:ext>
            </a:extLst>
          </p:cNvPr>
          <p:cNvSpPr/>
          <p:nvPr/>
        </p:nvSpPr>
        <p:spPr>
          <a:xfrm>
            <a:off x="0" y="1"/>
            <a:ext cx="12192000" cy="1625599"/>
          </a:xfrm>
          <a:prstGeom prst="rect">
            <a:avLst/>
          </a:prstGeom>
          <a:solidFill>
            <a:srgbClr val="684F7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D8618-BC46-F505-5111-3A0CF613E2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43" r="22843"/>
          <a:stretch>
            <a:fillRect/>
          </a:stretch>
        </p:blipFill>
        <p:spPr>
          <a:xfrm>
            <a:off x="739303" y="778212"/>
            <a:ext cx="4037194" cy="4955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E20C02-1D0A-C8D6-6689-7533DCA1CEDB}"/>
              </a:ext>
            </a:extLst>
          </p:cNvPr>
          <p:cNvSpPr txBox="1"/>
          <p:nvPr/>
        </p:nvSpPr>
        <p:spPr>
          <a:xfrm>
            <a:off x="5243425" y="505024"/>
            <a:ext cx="57023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ptos ExtraBold" panose="020B0004020202020204" pitchFamily="34" charset="0"/>
              </a:rPr>
              <a:t>About Us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905968-B2E8-CAD9-5808-22E1988E871E}"/>
              </a:ext>
            </a:extLst>
          </p:cNvPr>
          <p:cNvSpPr/>
          <p:nvPr/>
        </p:nvSpPr>
        <p:spPr>
          <a:xfrm>
            <a:off x="11232205" y="-666575"/>
            <a:ext cx="1718553" cy="1718553"/>
          </a:xfrm>
          <a:prstGeom prst="ellipse">
            <a:avLst/>
          </a:prstGeom>
          <a:pattFill prst="wdDnDiag">
            <a:fgClr>
              <a:srgbClr val="684F76"/>
            </a:fgClr>
            <a:bgClr>
              <a:schemeClr val="bg1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D2F0C22-F242-6DE5-9472-7AB3B20E8CA7}"/>
              </a:ext>
            </a:extLst>
          </p:cNvPr>
          <p:cNvSpPr/>
          <p:nvPr/>
        </p:nvSpPr>
        <p:spPr>
          <a:xfrm>
            <a:off x="739303" y="778212"/>
            <a:ext cx="4037194" cy="4955322"/>
          </a:xfrm>
          <a:prstGeom prst="rect">
            <a:avLst/>
          </a:prstGeom>
          <a:solidFill>
            <a:srgbClr val="684F76">
              <a:alpha val="4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7B310-3B28-2C14-5B69-BB0D9F2EE3E7}"/>
              </a:ext>
            </a:extLst>
          </p:cNvPr>
          <p:cNvSpPr txBox="1"/>
          <p:nvPr/>
        </p:nvSpPr>
        <p:spPr>
          <a:xfrm>
            <a:off x="5243425" y="1978660"/>
            <a:ext cx="6431842" cy="375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dirty="0">
                <a:latin typeface="Aptos Light" panose="020B0004020202020204" pitchFamily="34" charset="0"/>
              </a:rPr>
              <a:t>We are a premier consulting firm specializing in executive search working over the last one n half decades with experience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ptos Light" panose="020B0004020202020204" pitchFamily="34" charset="0"/>
              </a:rPr>
              <a:t>across multiple industries in both Indian and global markets. </a:t>
            </a:r>
          </a:p>
          <a:p>
            <a:r>
              <a:rPr lang="en-US" dirty="0">
                <a:latin typeface="Aptos Light" panose="020B0004020202020204" pitchFamily="34" charset="0"/>
              </a:rPr>
              <a:t>Our cross-functional and cross-sector expertise enables us to deliver exceptional leadership talent across a broad spectrum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ptos Light" panose="020B0004020202020204" pitchFamily="34" charset="0"/>
              </a:rPr>
              <a:t>of private enterprises. </a:t>
            </a:r>
          </a:p>
          <a:p>
            <a:r>
              <a:rPr lang="en-US" dirty="0">
                <a:latin typeface="Aptos Light" panose="020B0004020202020204" pitchFamily="34" charset="0"/>
              </a:rPr>
              <a:t>In a rapidly evolving business environment, we remain agile and insight-driven—continually researching and adapting to </a:t>
            </a:r>
          </a:p>
          <a:p>
            <a:r>
              <a:rPr lang="en-US" dirty="0">
                <a:latin typeface="Aptos Light" panose="020B0004020202020204" pitchFamily="34" charset="0"/>
              </a:rPr>
              <a:t>deliver solutions that align with current market realities. Our strength lies in our ability to execute mid to senior-level </a:t>
            </a:r>
          </a:p>
          <a:p>
            <a:r>
              <a:rPr lang="en-US" dirty="0">
                <a:latin typeface="Aptos Light" panose="020B0004020202020204" pitchFamily="34" charset="0"/>
              </a:rPr>
              <a:t>search mandates with precision, drawing from a diverse, industry-spanning talent pool to ensure the right leadership fit for </a:t>
            </a:r>
          </a:p>
          <a:p>
            <a:r>
              <a:rPr lang="en-US" dirty="0">
                <a:latin typeface="Aptos Light" panose="020B0004020202020204" pitchFamily="34" charset="0"/>
              </a:rPr>
              <a:t>every organization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CB5D542-1EA1-7298-AD8B-876702B14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146" y="6295226"/>
            <a:ext cx="1271120" cy="32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72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154E66-33B9-4EAE-22E6-0C515B864376}"/>
              </a:ext>
            </a:extLst>
          </p:cNvPr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684F7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154113-56EC-95B2-5F16-BD4C9A9249E8}"/>
              </a:ext>
            </a:extLst>
          </p:cNvPr>
          <p:cNvSpPr/>
          <p:nvPr/>
        </p:nvSpPr>
        <p:spPr>
          <a:xfrm>
            <a:off x="6096000" y="-1"/>
            <a:ext cx="6096000" cy="6858000"/>
          </a:xfrm>
          <a:prstGeom prst="rect">
            <a:avLst/>
          </a:prstGeom>
          <a:solidFill>
            <a:srgbClr val="E8E5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499A6B-143C-BBBF-84F8-0E22B4FE15B6}"/>
              </a:ext>
            </a:extLst>
          </p:cNvPr>
          <p:cNvSpPr/>
          <p:nvPr/>
        </p:nvSpPr>
        <p:spPr>
          <a:xfrm>
            <a:off x="4189379" y="1522377"/>
            <a:ext cx="3813243" cy="381324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E4F64-CEBA-A357-D15C-A0226D07A404}"/>
              </a:ext>
            </a:extLst>
          </p:cNvPr>
          <p:cNvSpPr txBox="1"/>
          <p:nvPr/>
        </p:nvSpPr>
        <p:spPr>
          <a:xfrm>
            <a:off x="514349" y="2813446"/>
            <a:ext cx="3532357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ptos ExtraBold" panose="020B0004020202020204" pitchFamily="34" charset="0"/>
              </a:rPr>
              <a:t>CONNECTING GREAT 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8949A-8207-D02A-5266-ED403A72D6CD}"/>
              </a:ext>
            </a:extLst>
          </p:cNvPr>
          <p:cNvSpPr txBox="1"/>
          <p:nvPr/>
        </p:nvSpPr>
        <p:spPr>
          <a:xfrm>
            <a:off x="8143064" y="2813446"/>
            <a:ext cx="3532357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dirty="0">
                <a:solidFill>
                  <a:srgbClr val="684F76"/>
                </a:solidFill>
                <a:latin typeface="Aptos ExtraBold" panose="020B0004020202020204" pitchFamily="34" charset="0"/>
              </a:rPr>
              <a:t>WITH GREAT COMPANIES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FDC92C-B668-02F7-3A91-63C1F9DE5591}"/>
              </a:ext>
            </a:extLst>
          </p:cNvPr>
          <p:cNvSpPr/>
          <p:nvPr/>
        </p:nvSpPr>
        <p:spPr>
          <a:xfrm>
            <a:off x="514350" y="5583677"/>
            <a:ext cx="2987608" cy="936680"/>
          </a:xfrm>
          <a:prstGeom prst="rect">
            <a:avLst/>
          </a:prstGeom>
          <a:pattFill prst="pct10">
            <a:fgClr>
              <a:schemeClr val="bg1"/>
            </a:fgClr>
            <a:bgClr>
              <a:srgbClr val="684F76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F6C35-D9FB-9730-092C-5C42FC6D5A2E}"/>
              </a:ext>
            </a:extLst>
          </p:cNvPr>
          <p:cNvSpPr/>
          <p:nvPr/>
        </p:nvSpPr>
        <p:spPr>
          <a:xfrm>
            <a:off x="8687657" y="353758"/>
            <a:ext cx="2987608" cy="936680"/>
          </a:xfrm>
          <a:prstGeom prst="rect">
            <a:avLst/>
          </a:prstGeom>
          <a:pattFill prst="pct10">
            <a:fgClr>
              <a:srgbClr val="684F76"/>
            </a:fgClr>
            <a:bgClr>
              <a:srgbClr val="E8E5EB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14562C-70A6-AEC7-8461-37D7A022C5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85" t="13109" r="25385" b="13109"/>
          <a:stretch>
            <a:fillRect/>
          </a:stretch>
        </p:blipFill>
        <p:spPr>
          <a:xfrm>
            <a:off x="4362708" y="1695706"/>
            <a:ext cx="3466586" cy="3466586"/>
          </a:xfrm>
          <a:custGeom>
            <a:avLst/>
            <a:gdLst>
              <a:gd name="csX0" fmla="*/ 1733293 w 3466586"/>
              <a:gd name="csY0" fmla="*/ 0 h 3466586"/>
              <a:gd name="csX1" fmla="*/ 3466586 w 3466586"/>
              <a:gd name="csY1" fmla="*/ 1733293 h 3466586"/>
              <a:gd name="csX2" fmla="*/ 1733293 w 3466586"/>
              <a:gd name="csY2" fmla="*/ 3466586 h 3466586"/>
              <a:gd name="csX3" fmla="*/ 0 w 3466586"/>
              <a:gd name="csY3" fmla="*/ 1733293 h 3466586"/>
              <a:gd name="csX4" fmla="*/ 1733293 w 3466586"/>
              <a:gd name="csY4" fmla="*/ 0 h 34665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466586" h="3466586">
                <a:moveTo>
                  <a:pt x="1733293" y="0"/>
                </a:moveTo>
                <a:cubicBezTo>
                  <a:pt x="2690564" y="0"/>
                  <a:pt x="3466586" y="776022"/>
                  <a:pt x="3466586" y="1733293"/>
                </a:cubicBezTo>
                <a:cubicBezTo>
                  <a:pt x="3466586" y="2690564"/>
                  <a:pt x="2690564" y="3466586"/>
                  <a:pt x="1733293" y="3466586"/>
                </a:cubicBezTo>
                <a:cubicBezTo>
                  <a:pt x="776022" y="3466586"/>
                  <a:pt x="0" y="2690564"/>
                  <a:pt x="0" y="1733293"/>
                </a:cubicBezTo>
                <a:cubicBezTo>
                  <a:pt x="0" y="776022"/>
                  <a:pt x="776022" y="0"/>
                  <a:pt x="1733293" y="0"/>
                </a:cubicBezTo>
                <a:close/>
              </a:path>
            </a:pathLst>
          </a:cu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0F2693D-BD81-0027-9FD3-718547C1E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146" y="6295226"/>
            <a:ext cx="1271120" cy="32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153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4000">
              <a:srgbClr val="523761"/>
            </a:gs>
            <a:gs pos="81000">
              <a:srgbClr val="684F76"/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A7ACC-A2B9-762A-95D7-A8990454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4AAF30F-F939-86BB-4731-CDC738E2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06" y="365125"/>
            <a:ext cx="10896788" cy="638175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Aptos ExtraBold" panose="020B0004020202020204" pitchFamily="34" charset="0"/>
                <a:ea typeface="+mn-ea"/>
                <a:cs typeface="+mn-cs"/>
              </a:rPr>
              <a:t>Industry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D46A5A4-0443-4573-EC50-E7F733D0537C}"/>
              </a:ext>
            </a:extLst>
          </p:cNvPr>
          <p:cNvSpPr/>
          <p:nvPr/>
        </p:nvSpPr>
        <p:spPr>
          <a:xfrm>
            <a:off x="647606" y="157588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1714BC09-4740-6BF8-1543-6CE0EFDDD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146" y="6295226"/>
            <a:ext cx="1271120" cy="32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10EB32-16A8-7C33-C0C1-EEFA369435CB}"/>
              </a:ext>
            </a:extLst>
          </p:cNvPr>
          <p:cNvSpPr/>
          <p:nvPr/>
        </p:nvSpPr>
        <p:spPr>
          <a:xfrm>
            <a:off x="2854396" y="157588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E712501-1F4B-E869-B6E0-B771390D59A3}"/>
              </a:ext>
            </a:extLst>
          </p:cNvPr>
          <p:cNvSpPr/>
          <p:nvPr/>
        </p:nvSpPr>
        <p:spPr>
          <a:xfrm>
            <a:off x="5061186" y="157588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DF8B53D-315B-CE6C-C6EC-5E9A47F294C1}"/>
              </a:ext>
            </a:extLst>
          </p:cNvPr>
          <p:cNvSpPr/>
          <p:nvPr/>
        </p:nvSpPr>
        <p:spPr>
          <a:xfrm>
            <a:off x="7267976" y="157588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DAD7894-2AE2-6041-BFD5-A0F6CA10FCB7}"/>
              </a:ext>
            </a:extLst>
          </p:cNvPr>
          <p:cNvSpPr/>
          <p:nvPr/>
        </p:nvSpPr>
        <p:spPr>
          <a:xfrm>
            <a:off x="9474765" y="157588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30A537A-CF01-CE0B-7CF3-10887B8C903B}"/>
              </a:ext>
            </a:extLst>
          </p:cNvPr>
          <p:cNvSpPr/>
          <p:nvPr/>
        </p:nvSpPr>
        <p:spPr>
          <a:xfrm>
            <a:off x="647606" y="310573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42C00F6-1E15-0EC3-DD35-1E739CF28FE8}"/>
              </a:ext>
            </a:extLst>
          </p:cNvPr>
          <p:cNvSpPr/>
          <p:nvPr/>
        </p:nvSpPr>
        <p:spPr>
          <a:xfrm>
            <a:off x="2854396" y="310573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3911FD-0C60-9EEE-48FE-CE41444FE21E}"/>
              </a:ext>
            </a:extLst>
          </p:cNvPr>
          <p:cNvSpPr/>
          <p:nvPr/>
        </p:nvSpPr>
        <p:spPr>
          <a:xfrm>
            <a:off x="5061186" y="310573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816F02-BD8F-6A66-8FB2-09BD5DBCD850}"/>
              </a:ext>
            </a:extLst>
          </p:cNvPr>
          <p:cNvSpPr/>
          <p:nvPr/>
        </p:nvSpPr>
        <p:spPr>
          <a:xfrm>
            <a:off x="7267976" y="310573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E35F528-AF13-54E9-2084-250019E65E5E}"/>
              </a:ext>
            </a:extLst>
          </p:cNvPr>
          <p:cNvSpPr/>
          <p:nvPr/>
        </p:nvSpPr>
        <p:spPr>
          <a:xfrm>
            <a:off x="9474765" y="3105732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9C2B57F-4C38-AEF2-C3C1-6FD748D84C6E}"/>
              </a:ext>
            </a:extLst>
          </p:cNvPr>
          <p:cNvSpPr/>
          <p:nvPr/>
        </p:nvSpPr>
        <p:spPr>
          <a:xfrm>
            <a:off x="647606" y="4635581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C864364-D138-2419-E1FB-AE34B8A568D3}"/>
              </a:ext>
            </a:extLst>
          </p:cNvPr>
          <p:cNvSpPr/>
          <p:nvPr/>
        </p:nvSpPr>
        <p:spPr>
          <a:xfrm>
            <a:off x="2854396" y="4635581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5A9DC06-BEC6-6C19-CE80-2FB34C1ACD39}"/>
              </a:ext>
            </a:extLst>
          </p:cNvPr>
          <p:cNvSpPr/>
          <p:nvPr/>
        </p:nvSpPr>
        <p:spPr>
          <a:xfrm>
            <a:off x="5061186" y="4635581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85FC20D-5915-7BA2-34C1-55C914891480}"/>
              </a:ext>
            </a:extLst>
          </p:cNvPr>
          <p:cNvSpPr/>
          <p:nvPr/>
        </p:nvSpPr>
        <p:spPr>
          <a:xfrm>
            <a:off x="7267976" y="4635581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97D4EFC-08D4-F92D-7AF2-0F1EC2B4AD78}"/>
              </a:ext>
            </a:extLst>
          </p:cNvPr>
          <p:cNvSpPr/>
          <p:nvPr/>
        </p:nvSpPr>
        <p:spPr>
          <a:xfrm>
            <a:off x="9474765" y="4635581"/>
            <a:ext cx="2069630" cy="1395569"/>
          </a:xfrm>
          <a:prstGeom prst="roundRect">
            <a:avLst>
              <a:gd name="adj" fmla="val 6552"/>
            </a:avLst>
          </a:prstGeom>
          <a:solidFill>
            <a:srgbClr val="CDABBE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FDFA139-C6F3-465D-E488-A0E69C980217}"/>
              </a:ext>
            </a:extLst>
          </p:cNvPr>
          <p:cNvSpPr/>
          <p:nvPr/>
        </p:nvSpPr>
        <p:spPr>
          <a:xfrm>
            <a:off x="11106612" y="-557321"/>
            <a:ext cx="1584000" cy="1584453"/>
          </a:xfrm>
          <a:prstGeom prst="ellipse">
            <a:avLst/>
          </a:prstGeom>
          <a:pattFill prst="pct10">
            <a:fgClr>
              <a:schemeClr val="bg1"/>
            </a:fgClr>
            <a:bgClr>
              <a:srgbClr val="684F76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4A881D-1040-952D-6990-244868DB5F59}"/>
              </a:ext>
            </a:extLst>
          </p:cNvPr>
          <p:cNvSpPr txBox="1"/>
          <p:nvPr/>
        </p:nvSpPr>
        <p:spPr>
          <a:xfrm>
            <a:off x="760217" y="2312967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Fashion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&amp; Apparel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1A457E-11DD-2034-DDEF-A63486BC7A6F}"/>
              </a:ext>
            </a:extLst>
          </p:cNvPr>
          <p:cNvSpPr txBox="1"/>
          <p:nvPr/>
        </p:nvSpPr>
        <p:spPr>
          <a:xfrm>
            <a:off x="2967007" y="2312967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Telecom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&amp; 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3B4E82-A550-EC40-967E-7F04D01B2E69}"/>
              </a:ext>
            </a:extLst>
          </p:cNvPr>
          <p:cNvSpPr txBox="1"/>
          <p:nvPr/>
        </p:nvSpPr>
        <p:spPr>
          <a:xfrm>
            <a:off x="5173797" y="2312967"/>
            <a:ext cx="1844409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Security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9D99E3-BD68-D52C-BC6C-E5F94362FF6D}"/>
              </a:ext>
            </a:extLst>
          </p:cNvPr>
          <p:cNvSpPr txBox="1"/>
          <p:nvPr/>
        </p:nvSpPr>
        <p:spPr>
          <a:xfrm>
            <a:off x="7380587" y="2312967"/>
            <a:ext cx="1844409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Retail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CBA0B0-DE4B-8CCA-AB7C-CA3762331496}"/>
              </a:ext>
            </a:extLst>
          </p:cNvPr>
          <p:cNvSpPr txBox="1"/>
          <p:nvPr/>
        </p:nvSpPr>
        <p:spPr>
          <a:xfrm>
            <a:off x="9587376" y="2312967"/>
            <a:ext cx="1844409" cy="6463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Medical Devices, Pharma, and Life Sciences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E04CC6-920F-AB8B-3A16-596129C3F276}"/>
              </a:ext>
            </a:extLst>
          </p:cNvPr>
          <p:cNvSpPr txBox="1"/>
          <p:nvPr/>
        </p:nvSpPr>
        <p:spPr>
          <a:xfrm>
            <a:off x="760217" y="3842816"/>
            <a:ext cx="1844409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Hospitality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741FA4-7C43-D4BE-5096-4C04127CC66D}"/>
              </a:ext>
            </a:extLst>
          </p:cNvPr>
          <p:cNvSpPr txBox="1"/>
          <p:nvPr/>
        </p:nvSpPr>
        <p:spPr>
          <a:xfrm>
            <a:off x="2967007" y="3842816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Automotive &amp;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Railways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463AB6-8B01-6219-E58E-913127BC85B7}"/>
              </a:ext>
            </a:extLst>
          </p:cNvPr>
          <p:cNvSpPr txBox="1"/>
          <p:nvPr/>
        </p:nvSpPr>
        <p:spPr>
          <a:xfrm>
            <a:off x="5173797" y="3842816"/>
            <a:ext cx="1844409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Logistics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19FF1B-A99E-7EF6-7C83-F7A7B0674CCB}"/>
              </a:ext>
            </a:extLst>
          </p:cNvPr>
          <p:cNvSpPr txBox="1"/>
          <p:nvPr/>
        </p:nvSpPr>
        <p:spPr>
          <a:xfrm>
            <a:off x="7380587" y="3842816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Media &amp;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Public Relations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1724FF-58E7-03F7-CF97-FDD6453F64F0}"/>
              </a:ext>
            </a:extLst>
          </p:cNvPr>
          <p:cNvSpPr txBox="1"/>
          <p:nvPr/>
        </p:nvSpPr>
        <p:spPr>
          <a:xfrm>
            <a:off x="9587376" y="3842816"/>
            <a:ext cx="1844409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FMCG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87A8A3-7BF7-2BB0-6583-EAE87E65F847}"/>
              </a:ext>
            </a:extLst>
          </p:cNvPr>
          <p:cNvSpPr txBox="1"/>
          <p:nvPr/>
        </p:nvSpPr>
        <p:spPr>
          <a:xfrm>
            <a:off x="760217" y="5372666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Facility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Management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8AE610-1ADA-C0D0-89A4-C2FB502DA185}"/>
              </a:ext>
            </a:extLst>
          </p:cNvPr>
          <p:cNvSpPr txBox="1"/>
          <p:nvPr/>
        </p:nvSpPr>
        <p:spPr>
          <a:xfrm>
            <a:off x="2967007" y="5372666"/>
            <a:ext cx="1844409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Aviation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E58C87-A285-4BD8-9EA7-9110CC730BC3}"/>
              </a:ext>
            </a:extLst>
          </p:cNvPr>
          <p:cNvSpPr txBox="1"/>
          <p:nvPr/>
        </p:nvSpPr>
        <p:spPr>
          <a:xfrm>
            <a:off x="5173797" y="5372666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Building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Materials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77F752-652D-1CD7-FE05-BBFE68AF2FA2}"/>
              </a:ext>
            </a:extLst>
          </p:cNvPr>
          <p:cNvSpPr txBox="1"/>
          <p:nvPr/>
        </p:nvSpPr>
        <p:spPr>
          <a:xfrm>
            <a:off x="7380587" y="5372666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Energy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&amp; Power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F93A97-C0F7-1AFB-B63E-1D0A94D2519D}"/>
              </a:ext>
            </a:extLst>
          </p:cNvPr>
          <p:cNvSpPr txBox="1"/>
          <p:nvPr/>
        </p:nvSpPr>
        <p:spPr>
          <a:xfrm>
            <a:off x="9587376" y="5372666"/>
            <a:ext cx="1844409" cy="4308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Agri</a:t>
            </a:r>
            <a:b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ptos Light" panose="020B0004020202020204" pitchFamily="34" charset="0"/>
              </a:rPr>
              <a:t>&amp; Sugar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F798143-F33D-CC1D-7EBD-A3A9020984C6}"/>
              </a:ext>
            </a:extLst>
          </p:cNvPr>
          <p:cNvGrpSpPr/>
          <p:nvPr/>
        </p:nvGrpSpPr>
        <p:grpSpPr>
          <a:xfrm>
            <a:off x="989555" y="2208385"/>
            <a:ext cx="1385732" cy="28388"/>
            <a:chOff x="1600200" y="2150298"/>
            <a:chExt cx="1828800" cy="2838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5146551-C00E-484D-2E6A-5DC14B1E4A2E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8E52F11-D2B3-EEF1-E79F-5DEA3C5D8B7C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69" name="Group 7168">
            <a:extLst>
              <a:ext uri="{FF2B5EF4-FFF2-40B4-BE49-F238E27FC236}">
                <a16:creationId xmlns:a16="http://schemas.microsoft.com/office/drawing/2014/main" id="{34346C60-E5DB-6DD4-E563-8333A5204128}"/>
              </a:ext>
            </a:extLst>
          </p:cNvPr>
          <p:cNvGrpSpPr/>
          <p:nvPr/>
        </p:nvGrpSpPr>
        <p:grpSpPr>
          <a:xfrm>
            <a:off x="989555" y="3738234"/>
            <a:ext cx="1385732" cy="28388"/>
            <a:chOff x="1600200" y="2150298"/>
            <a:chExt cx="1828800" cy="28388"/>
          </a:xfrm>
        </p:grpSpPr>
        <p:sp>
          <p:nvSpPr>
            <p:cNvPr id="7171" name="Rectangle 7170">
              <a:extLst>
                <a:ext uri="{FF2B5EF4-FFF2-40B4-BE49-F238E27FC236}">
                  <a16:creationId xmlns:a16="http://schemas.microsoft.com/office/drawing/2014/main" id="{AEEE1658-625E-C4F4-B70D-A40098BAEFA9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3" name="Rectangle 7172">
              <a:extLst>
                <a:ext uri="{FF2B5EF4-FFF2-40B4-BE49-F238E27FC236}">
                  <a16:creationId xmlns:a16="http://schemas.microsoft.com/office/drawing/2014/main" id="{52761307-0385-D5ED-CF04-E9E36066278C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74" name="Group 7173">
            <a:extLst>
              <a:ext uri="{FF2B5EF4-FFF2-40B4-BE49-F238E27FC236}">
                <a16:creationId xmlns:a16="http://schemas.microsoft.com/office/drawing/2014/main" id="{079C7A02-1EF4-3DCF-33B1-E72A090D7581}"/>
              </a:ext>
            </a:extLst>
          </p:cNvPr>
          <p:cNvGrpSpPr/>
          <p:nvPr/>
        </p:nvGrpSpPr>
        <p:grpSpPr>
          <a:xfrm>
            <a:off x="989555" y="5268083"/>
            <a:ext cx="1385732" cy="28388"/>
            <a:chOff x="1600200" y="2150298"/>
            <a:chExt cx="1828800" cy="28388"/>
          </a:xfrm>
        </p:grpSpPr>
        <p:sp>
          <p:nvSpPr>
            <p:cNvPr id="7175" name="Rectangle 7174">
              <a:extLst>
                <a:ext uri="{FF2B5EF4-FFF2-40B4-BE49-F238E27FC236}">
                  <a16:creationId xmlns:a16="http://schemas.microsoft.com/office/drawing/2014/main" id="{A8778CD4-BA11-EFF1-30E4-9E8CB0A4D072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6" name="Rectangle 7175">
              <a:extLst>
                <a:ext uri="{FF2B5EF4-FFF2-40B4-BE49-F238E27FC236}">
                  <a16:creationId xmlns:a16="http://schemas.microsoft.com/office/drawing/2014/main" id="{DB36F2AD-F3C0-7DD4-8488-92585C86511C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87" name="Group 7186">
            <a:extLst>
              <a:ext uri="{FF2B5EF4-FFF2-40B4-BE49-F238E27FC236}">
                <a16:creationId xmlns:a16="http://schemas.microsoft.com/office/drawing/2014/main" id="{7A10EA63-B313-0BD2-5830-86A37591181C}"/>
              </a:ext>
            </a:extLst>
          </p:cNvPr>
          <p:cNvGrpSpPr/>
          <p:nvPr/>
        </p:nvGrpSpPr>
        <p:grpSpPr>
          <a:xfrm>
            <a:off x="3196345" y="2208385"/>
            <a:ext cx="1385732" cy="28388"/>
            <a:chOff x="1600200" y="2150298"/>
            <a:chExt cx="1828800" cy="28388"/>
          </a:xfrm>
        </p:grpSpPr>
        <p:sp>
          <p:nvSpPr>
            <p:cNvPr id="7188" name="Rectangle 7187">
              <a:extLst>
                <a:ext uri="{FF2B5EF4-FFF2-40B4-BE49-F238E27FC236}">
                  <a16:creationId xmlns:a16="http://schemas.microsoft.com/office/drawing/2014/main" id="{B940A82B-B484-7123-2C06-77D361E1CD6A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9" name="Rectangle 7188">
              <a:extLst>
                <a:ext uri="{FF2B5EF4-FFF2-40B4-BE49-F238E27FC236}">
                  <a16:creationId xmlns:a16="http://schemas.microsoft.com/office/drawing/2014/main" id="{D2C4393C-95DB-6AF4-B2A0-D2EC3AF91217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90" name="Group 7189">
            <a:extLst>
              <a:ext uri="{FF2B5EF4-FFF2-40B4-BE49-F238E27FC236}">
                <a16:creationId xmlns:a16="http://schemas.microsoft.com/office/drawing/2014/main" id="{9AA060E5-C9F1-3BB0-A336-853748B2BB04}"/>
              </a:ext>
            </a:extLst>
          </p:cNvPr>
          <p:cNvGrpSpPr/>
          <p:nvPr/>
        </p:nvGrpSpPr>
        <p:grpSpPr>
          <a:xfrm>
            <a:off x="3196345" y="3738234"/>
            <a:ext cx="1385732" cy="28388"/>
            <a:chOff x="1600200" y="2150298"/>
            <a:chExt cx="1828800" cy="28388"/>
          </a:xfrm>
        </p:grpSpPr>
        <p:sp>
          <p:nvSpPr>
            <p:cNvPr id="7191" name="Rectangle 7190">
              <a:extLst>
                <a:ext uri="{FF2B5EF4-FFF2-40B4-BE49-F238E27FC236}">
                  <a16:creationId xmlns:a16="http://schemas.microsoft.com/office/drawing/2014/main" id="{48EB2FA5-EB3A-C275-0FAE-A1188912DEEB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2" name="Rectangle 7191">
              <a:extLst>
                <a:ext uri="{FF2B5EF4-FFF2-40B4-BE49-F238E27FC236}">
                  <a16:creationId xmlns:a16="http://schemas.microsoft.com/office/drawing/2014/main" id="{711D40A9-DE37-AB36-C680-16F270C79F01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93" name="Group 7192">
            <a:extLst>
              <a:ext uri="{FF2B5EF4-FFF2-40B4-BE49-F238E27FC236}">
                <a16:creationId xmlns:a16="http://schemas.microsoft.com/office/drawing/2014/main" id="{FAD7E76B-E149-19F9-6318-202F5BD13E3C}"/>
              </a:ext>
            </a:extLst>
          </p:cNvPr>
          <p:cNvGrpSpPr/>
          <p:nvPr/>
        </p:nvGrpSpPr>
        <p:grpSpPr>
          <a:xfrm>
            <a:off x="3196345" y="5268083"/>
            <a:ext cx="1385732" cy="28388"/>
            <a:chOff x="1600200" y="2150298"/>
            <a:chExt cx="1828800" cy="28388"/>
          </a:xfrm>
        </p:grpSpPr>
        <p:sp>
          <p:nvSpPr>
            <p:cNvPr id="7194" name="Rectangle 7193">
              <a:extLst>
                <a:ext uri="{FF2B5EF4-FFF2-40B4-BE49-F238E27FC236}">
                  <a16:creationId xmlns:a16="http://schemas.microsoft.com/office/drawing/2014/main" id="{E7EF496F-1988-9319-1088-ACF851825676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5" name="Rectangle 7194">
              <a:extLst>
                <a:ext uri="{FF2B5EF4-FFF2-40B4-BE49-F238E27FC236}">
                  <a16:creationId xmlns:a16="http://schemas.microsoft.com/office/drawing/2014/main" id="{242B1DFF-3EAE-DEA6-22BF-49A901CDB1A5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06" name="Group 7205">
            <a:extLst>
              <a:ext uri="{FF2B5EF4-FFF2-40B4-BE49-F238E27FC236}">
                <a16:creationId xmlns:a16="http://schemas.microsoft.com/office/drawing/2014/main" id="{38084E44-26AC-7478-10A4-595E63EA46CE}"/>
              </a:ext>
            </a:extLst>
          </p:cNvPr>
          <p:cNvGrpSpPr/>
          <p:nvPr/>
        </p:nvGrpSpPr>
        <p:grpSpPr>
          <a:xfrm>
            <a:off x="5403135" y="2208385"/>
            <a:ext cx="1385732" cy="28388"/>
            <a:chOff x="1600200" y="2150298"/>
            <a:chExt cx="1828800" cy="28388"/>
          </a:xfrm>
        </p:grpSpPr>
        <p:sp>
          <p:nvSpPr>
            <p:cNvPr id="7207" name="Rectangle 7206">
              <a:extLst>
                <a:ext uri="{FF2B5EF4-FFF2-40B4-BE49-F238E27FC236}">
                  <a16:creationId xmlns:a16="http://schemas.microsoft.com/office/drawing/2014/main" id="{DE6600C7-7C82-F5ED-4C96-4C034E359323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08" name="Rectangle 7207">
              <a:extLst>
                <a:ext uri="{FF2B5EF4-FFF2-40B4-BE49-F238E27FC236}">
                  <a16:creationId xmlns:a16="http://schemas.microsoft.com/office/drawing/2014/main" id="{6E6F9076-22F2-6949-B21F-D2EBB0A3B503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09" name="Group 7208">
            <a:extLst>
              <a:ext uri="{FF2B5EF4-FFF2-40B4-BE49-F238E27FC236}">
                <a16:creationId xmlns:a16="http://schemas.microsoft.com/office/drawing/2014/main" id="{69A4567D-84E8-4C3B-F30E-423F9C0A0F6B}"/>
              </a:ext>
            </a:extLst>
          </p:cNvPr>
          <p:cNvGrpSpPr/>
          <p:nvPr/>
        </p:nvGrpSpPr>
        <p:grpSpPr>
          <a:xfrm>
            <a:off x="5403135" y="3738234"/>
            <a:ext cx="1385732" cy="28388"/>
            <a:chOff x="1600200" y="2150298"/>
            <a:chExt cx="1828800" cy="28388"/>
          </a:xfrm>
        </p:grpSpPr>
        <p:sp>
          <p:nvSpPr>
            <p:cNvPr id="7210" name="Rectangle 7209">
              <a:extLst>
                <a:ext uri="{FF2B5EF4-FFF2-40B4-BE49-F238E27FC236}">
                  <a16:creationId xmlns:a16="http://schemas.microsoft.com/office/drawing/2014/main" id="{6BADCEB1-13C5-B978-30F8-D1FFB9A111BA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1" name="Rectangle 7210">
              <a:extLst>
                <a:ext uri="{FF2B5EF4-FFF2-40B4-BE49-F238E27FC236}">
                  <a16:creationId xmlns:a16="http://schemas.microsoft.com/office/drawing/2014/main" id="{D41F3AC8-E1AF-AE39-0D12-4B5188E34265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12" name="Group 7211">
            <a:extLst>
              <a:ext uri="{FF2B5EF4-FFF2-40B4-BE49-F238E27FC236}">
                <a16:creationId xmlns:a16="http://schemas.microsoft.com/office/drawing/2014/main" id="{57866623-9F2B-B303-B6C7-52B71B8C7A1E}"/>
              </a:ext>
            </a:extLst>
          </p:cNvPr>
          <p:cNvGrpSpPr/>
          <p:nvPr/>
        </p:nvGrpSpPr>
        <p:grpSpPr>
          <a:xfrm>
            <a:off x="5403135" y="5268083"/>
            <a:ext cx="1385732" cy="28388"/>
            <a:chOff x="1600200" y="2150298"/>
            <a:chExt cx="1828800" cy="28388"/>
          </a:xfrm>
        </p:grpSpPr>
        <p:sp>
          <p:nvSpPr>
            <p:cNvPr id="7213" name="Rectangle 7212">
              <a:extLst>
                <a:ext uri="{FF2B5EF4-FFF2-40B4-BE49-F238E27FC236}">
                  <a16:creationId xmlns:a16="http://schemas.microsoft.com/office/drawing/2014/main" id="{FB11656C-6EDC-4D23-8EFD-621105700494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14" name="Rectangle 7213">
              <a:extLst>
                <a:ext uri="{FF2B5EF4-FFF2-40B4-BE49-F238E27FC236}">
                  <a16:creationId xmlns:a16="http://schemas.microsoft.com/office/drawing/2014/main" id="{AA8EC105-88BF-7D9C-5D04-0491A9949951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15" name="Group 7214">
            <a:extLst>
              <a:ext uri="{FF2B5EF4-FFF2-40B4-BE49-F238E27FC236}">
                <a16:creationId xmlns:a16="http://schemas.microsoft.com/office/drawing/2014/main" id="{28D4B5B4-D614-B741-3A23-0C9B218BD8C0}"/>
              </a:ext>
            </a:extLst>
          </p:cNvPr>
          <p:cNvGrpSpPr/>
          <p:nvPr/>
        </p:nvGrpSpPr>
        <p:grpSpPr>
          <a:xfrm>
            <a:off x="7609924" y="2208385"/>
            <a:ext cx="1385732" cy="28388"/>
            <a:chOff x="1600200" y="2150298"/>
            <a:chExt cx="1828800" cy="28388"/>
          </a:xfrm>
        </p:grpSpPr>
        <p:sp>
          <p:nvSpPr>
            <p:cNvPr id="7216" name="Rectangle 7215">
              <a:extLst>
                <a:ext uri="{FF2B5EF4-FFF2-40B4-BE49-F238E27FC236}">
                  <a16:creationId xmlns:a16="http://schemas.microsoft.com/office/drawing/2014/main" id="{6469E259-8102-99AE-2AFF-9CF89372A1FC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7" name="Rectangle 7216">
              <a:extLst>
                <a:ext uri="{FF2B5EF4-FFF2-40B4-BE49-F238E27FC236}">
                  <a16:creationId xmlns:a16="http://schemas.microsoft.com/office/drawing/2014/main" id="{8F2B21DA-B46A-FF89-FE38-D78787AECA73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18" name="Group 7217">
            <a:extLst>
              <a:ext uri="{FF2B5EF4-FFF2-40B4-BE49-F238E27FC236}">
                <a16:creationId xmlns:a16="http://schemas.microsoft.com/office/drawing/2014/main" id="{5CA8AB44-C75D-E22A-8F11-DF0702A847BC}"/>
              </a:ext>
            </a:extLst>
          </p:cNvPr>
          <p:cNvGrpSpPr/>
          <p:nvPr/>
        </p:nvGrpSpPr>
        <p:grpSpPr>
          <a:xfrm>
            <a:off x="7609924" y="3738234"/>
            <a:ext cx="1385732" cy="28388"/>
            <a:chOff x="1600200" y="2150298"/>
            <a:chExt cx="1828800" cy="28388"/>
          </a:xfrm>
        </p:grpSpPr>
        <p:sp>
          <p:nvSpPr>
            <p:cNvPr id="7219" name="Rectangle 7218">
              <a:extLst>
                <a:ext uri="{FF2B5EF4-FFF2-40B4-BE49-F238E27FC236}">
                  <a16:creationId xmlns:a16="http://schemas.microsoft.com/office/drawing/2014/main" id="{CAB7647A-C4E9-E5F2-7B73-F027EC5F25BC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0" name="Rectangle 7219">
              <a:extLst>
                <a:ext uri="{FF2B5EF4-FFF2-40B4-BE49-F238E27FC236}">
                  <a16:creationId xmlns:a16="http://schemas.microsoft.com/office/drawing/2014/main" id="{31AC3D3D-5C31-1B26-FC9A-9E915704CFAB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21" name="Group 7220">
            <a:extLst>
              <a:ext uri="{FF2B5EF4-FFF2-40B4-BE49-F238E27FC236}">
                <a16:creationId xmlns:a16="http://schemas.microsoft.com/office/drawing/2014/main" id="{406BBDC9-7D17-0C0D-96EA-F0DD17FD40C9}"/>
              </a:ext>
            </a:extLst>
          </p:cNvPr>
          <p:cNvGrpSpPr/>
          <p:nvPr/>
        </p:nvGrpSpPr>
        <p:grpSpPr>
          <a:xfrm>
            <a:off x="7609924" y="5268083"/>
            <a:ext cx="1385732" cy="28388"/>
            <a:chOff x="1600200" y="2150298"/>
            <a:chExt cx="1828800" cy="28388"/>
          </a:xfrm>
        </p:grpSpPr>
        <p:sp>
          <p:nvSpPr>
            <p:cNvPr id="7222" name="Rectangle 7221">
              <a:extLst>
                <a:ext uri="{FF2B5EF4-FFF2-40B4-BE49-F238E27FC236}">
                  <a16:creationId xmlns:a16="http://schemas.microsoft.com/office/drawing/2014/main" id="{6E938B03-2FB7-665D-80AB-DE4218012FFA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3" name="Rectangle 7222">
              <a:extLst>
                <a:ext uri="{FF2B5EF4-FFF2-40B4-BE49-F238E27FC236}">
                  <a16:creationId xmlns:a16="http://schemas.microsoft.com/office/drawing/2014/main" id="{DE9EA16E-F30A-C688-0435-E802B667354B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44" name="Group 7243">
            <a:extLst>
              <a:ext uri="{FF2B5EF4-FFF2-40B4-BE49-F238E27FC236}">
                <a16:creationId xmlns:a16="http://schemas.microsoft.com/office/drawing/2014/main" id="{B466AB7B-9DB6-0E39-3D2F-0922250E1E01}"/>
              </a:ext>
            </a:extLst>
          </p:cNvPr>
          <p:cNvGrpSpPr/>
          <p:nvPr/>
        </p:nvGrpSpPr>
        <p:grpSpPr>
          <a:xfrm>
            <a:off x="9816715" y="2208385"/>
            <a:ext cx="1385732" cy="28388"/>
            <a:chOff x="1600200" y="2150298"/>
            <a:chExt cx="1828800" cy="28388"/>
          </a:xfrm>
        </p:grpSpPr>
        <p:sp>
          <p:nvSpPr>
            <p:cNvPr id="7245" name="Rectangle 7244">
              <a:extLst>
                <a:ext uri="{FF2B5EF4-FFF2-40B4-BE49-F238E27FC236}">
                  <a16:creationId xmlns:a16="http://schemas.microsoft.com/office/drawing/2014/main" id="{12AF18C7-584B-6962-A783-A69133A53D03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6" name="Rectangle 7245">
              <a:extLst>
                <a:ext uri="{FF2B5EF4-FFF2-40B4-BE49-F238E27FC236}">
                  <a16:creationId xmlns:a16="http://schemas.microsoft.com/office/drawing/2014/main" id="{F9CDE61F-871F-283D-CD72-974BFF08B4DC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47" name="Group 7246">
            <a:extLst>
              <a:ext uri="{FF2B5EF4-FFF2-40B4-BE49-F238E27FC236}">
                <a16:creationId xmlns:a16="http://schemas.microsoft.com/office/drawing/2014/main" id="{07A3344F-D5CD-3A95-2BAF-D1B529BDC998}"/>
              </a:ext>
            </a:extLst>
          </p:cNvPr>
          <p:cNvGrpSpPr/>
          <p:nvPr/>
        </p:nvGrpSpPr>
        <p:grpSpPr>
          <a:xfrm>
            <a:off x="9816715" y="3738234"/>
            <a:ext cx="1385732" cy="28388"/>
            <a:chOff x="1600200" y="2150298"/>
            <a:chExt cx="1828800" cy="28388"/>
          </a:xfrm>
        </p:grpSpPr>
        <p:sp>
          <p:nvSpPr>
            <p:cNvPr id="7248" name="Rectangle 7247">
              <a:extLst>
                <a:ext uri="{FF2B5EF4-FFF2-40B4-BE49-F238E27FC236}">
                  <a16:creationId xmlns:a16="http://schemas.microsoft.com/office/drawing/2014/main" id="{620439BD-D6DD-8B68-1562-23CF41E86C3B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9" name="Rectangle 7248">
              <a:extLst>
                <a:ext uri="{FF2B5EF4-FFF2-40B4-BE49-F238E27FC236}">
                  <a16:creationId xmlns:a16="http://schemas.microsoft.com/office/drawing/2014/main" id="{EC6FFA3E-4A88-BBA4-5C4A-983BBC961235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50" name="Group 7249">
            <a:extLst>
              <a:ext uri="{FF2B5EF4-FFF2-40B4-BE49-F238E27FC236}">
                <a16:creationId xmlns:a16="http://schemas.microsoft.com/office/drawing/2014/main" id="{C678C53D-D6C3-E63A-D85E-C88BD6332051}"/>
              </a:ext>
            </a:extLst>
          </p:cNvPr>
          <p:cNvGrpSpPr/>
          <p:nvPr/>
        </p:nvGrpSpPr>
        <p:grpSpPr>
          <a:xfrm>
            <a:off x="9816715" y="5268083"/>
            <a:ext cx="1385732" cy="28388"/>
            <a:chOff x="1600200" y="2150298"/>
            <a:chExt cx="1828800" cy="28388"/>
          </a:xfrm>
        </p:grpSpPr>
        <p:sp>
          <p:nvSpPr>
            <p:cNvPr id="7251" name="Rectangle 7250">
              <a:extLst>
                <a:ext uri="{FF2B5EF4-FFF2-40B4-BE49-F238E27FC236}">
                  <a16:creationId xmlns:a16="http://schemas.microsoft.com/office/drawing/2014/main" id="{ED221DA6-3D76-17FA-9390-1B675307283C}"/>
                </a:ext>
              </a:extLst>
            </p:cNvPr>
            <p:cNvSpPr/>
            <p:nvPr/>
          </p:nvSpPr>
          <p:spPr>
            <a:xfrm>
              <a:off x="1600200" y="2150298"/>
              <a:ext cx="914400" cy="28388"/>
            </a:xfrm>
            <a:prstGeom prst="rect">
              <a:avLst/>
            </a:prstGeom>
            <a:solidFill>
              <a:srgbClr val="CDAB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52" name="Rectangle 7251">
              <a:extLst>
                <a:ext uri="{FF2B5EF4-FFF2-40B4-BE49-F238E27FC236}">
                  <a16:creationId xmlns:a16="http://schemas.microsoft.com/office/drawing/2014/main" id="{147169BE-E8AB-7AEC-B37B-5B5DE849C612}"/>
                </a:ext>
              </a:extLst>
            </p:cNvPr>
            <p:cNvSpPr/>
            <p:nvPr/>
          </p:nvSpPr>
          <p:spPr>
            <a:xfrm>
              <a:off x="2514600" y="2150298"/>
              <a:ext cx="914400" cy="28388"/>
            </a:xfrm>
            <a:prstGeom prst="rect">
              <a:avLst/>
            </a:prstGeom>
            <a:solidFill>
              <a:srgbClr val="E8E5E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53" name="TextBox 7252">
            <a:extLst>
              <a:ext uri="{FF2B5EF4-FFF2-40B4-BE49-F238E27FC236}">
                <a16:creationId xmlns:a16="http://schemas.microsoft.com/office/drawing/2014/main" id="{63675200-B5F2-3624-7601-DCA862EFEFB6}"/>
              </a:ext>
            </a:extLst>
          </p:cNvPr>
          <p:cNvSpPr txBox="1"/>
          <p:nvPr/>
        </p:nvSpPr>
        <p:spPr>
          <a:xfrm>
            <a:off x="1630323" y="162668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7254" name="TextBox 7253">
            <a:extLst>
              <a:ext uri="{FF2B5EF4-FFF2-40B4-BE49-F238E27FC236}">
                <a16:creationId xmlns:a16="http://schemas.microsoft.com/office/drawing/2014/main" id="{6E82F204-8EAF-2782-C391-FFD38DC42613}"/>
              </a:ext>
            </a:extLst>
          </p:cNvPr>
          <p:cNvSpPr txBox="1"/>
          <p:nvPr/>
        </p:nvSpPr>
        <p:spPr>
          <a:xfrm>
            <a:off x="3837112" y="162668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7255" name="TextBox 7254">
            <a:extLst>
              <a:ext uri="{FF2B5EF4-FFF2-40B4-BE49-F238E27FC236}">
                <a16:creationId xmlns:a16="http://schemas.microsoft.com/office/drawing/2014/main" id="{E1CD3DA7-ACE5-3DDD-AEB2-397B31D9482A}"/>
              </a:ext>
            </a:extLst>
          </p:cNvPr>
          <p:cNvSpPr txBox="1"/>
          <p:nvPr/>
        </p:nvSpPr>
        <p:spPr>
          <a:xfrm>
            <a:off x="6043903" y="162668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7256" name="TextBox 7255">
            <a:extLst>
              <a:ext uri="{FF2B5EF4-FFF2-40B4-BE49-F238E27FC236}">
                <a16:creationId xmlns:a16="http://schemas.microsoft.com/office/drawing/2014/main" id="{397ABE8E-30CD-328D-E430-EDB955CCDD57}"/>
              </a:ext>
            </a:extLst>
          </p:cNvPr>
          <p:cNvSpPr txBox="1"/>
          <p:nvPr/>
        </p:nvSpPr>
        <p:spPr>
          <a:xfrm>
            <a:off x="8250693" y="162668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7257" name="TextBox 7256">
            <a:extLst>
              <a:ext uri="{FF2B5EF4-FFF2-40B4-BE49-F238E27FC236}">
                <a16:creationId xmlns:a16="http://schemas.microsoft.com/office/drawing/2014/main" id="{5757A25E-3EAB-7782-36AB-829BB0C0FF79}"/>
              </a:ext>
            </a:extLst>
          </p:cNvPr>
          <p:cNvSpPr txBox="1"/>
          <p:nvPr/>
        </p:nvSpPr>
        <p:spPr>
          <a:xfrm>
            <a:off x="10457483" y="162668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7258" name="TextBox 7257">
            <a:extLst>
              <a:ext uri="{FF2B5EF4-FFF2-40B4-BE49-F238E27FC236}">
                <a16:creationId xmlns:a16="http://schemas.microsoft.com/office/drawing/2014/main" id="{ABDDD285-DD7A-A110-1920-F12B26294B1E}"/>
              </a:ext>
            </a:extLst>
          </p:cNvPr>
          <p:cNvSpPr txBox="1"/>
          <p:nvPr/>
        </p:nvSpPr>
        <p:spPr>
          <a:xfrm>
            <a:off x="1630323" y="315653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7259" name="TextBox 7258">
            <a:extLst>
              <a:ext uri="{FF2B5EF4-FFF2-40B4-BE49-F238E27FC236}">
                <a16:creationId xmlns:a16="http://schemas.microsoft.com/office/drawing/2014/main" id="{CF97929D-A58F-0193-B04C-F39E9E93FEEA}"/>
              </a:ext>
            </a:extLst>
          </p:cNvPr>
          <p:cNvSpPr txBox="1"/>
          <p:nvPr/>
        </p:nvSpPr>
        <p:spPr>
          <a:xfrm>
            <a:off x="3837112" y="315653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7260" name="TextBox 7259">
            <a:extLst>
              <a:ext uri="{FF2B5EF4-FFF2-40B4-BE49-F238E27FC236}">
                <a16:creationId xmlns:a16="http://schemas.microsoft.com/office/drawing/2014/main" id="{9DC55386-9A52-0C87-1E87-AC4F12ACAA8B}"/>
              </a:ext>
            </a:extLst>
          </p:cNvPr>
          <p:cNvSpPr txBox="1"/>
          <p:nvPr/>
        </p:nvSpPr>
        <p:spPr>
          <a:xfrm>
            <a:off x="6043903" y="315653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7261" name="TextBox 7260">
            <a:extLst>
              <a:ext uri="{FF2B5EF4-FFF2-40B4-BE49-F238E27FC236}">
                <a16:creationId xmlns:a16="http://schemas.microsoft.com/office/drawing/2014/main" id="{BECE3DF2-17D0-180B-CE74-CB47C3C57984}"/>
              </a:ext>
            </a:extLst>
          </p:cNvPr>
          <p:cNvSpPr txBox="1"/>
          <p:nvPr/>
        </p:nvSpPr>
        <p:spPr>
          <a:xfrm>
            <a:off x="8250693" y="3156532"/>
            <a:ext cx="104196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9</a:t>
            </a:r>
          </a:p>
        </p:txBody>
      </p:sp>
      <p:sp>
        <p:nvSpPr>
          <p:cNvPr id="7262" name="TextBox 7261">
            <a:extLst>
              <a:ext uri="{FF2B5EF4-FFF2-40B4-BE49-F238E27FC236}">
                <a16:creationId xmlns:a16="http://schemas.microsoft.com/office/drawing/2014/main" id="{13E1E571-091A-7005-B63D-5EDAA45E5015}"/>
              </a:ext>
            </a:extLst>
          </p:cNvPr>
          <p:cNvSpPr txBox="1"/>
          <p:nvPr/>
        </p:nvSpPr>
        <p:spPr>
          <a:xfrm>
            <a:off x="10213026" y="3156532"/>
            <a:ext cx="593111" cy="6155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10</a:t>
            </a:r>
          </a:p>
        </p:txBody>
      </p:sp>
      <p:sp>
        <p:nvSpPr>
          <p:cNvPr id="7263" name="TextBox 7262">
            <a:extLst>
              <a:ext uri="{FF2B5EF4-FFF2-40B4-BE49-F238E27FC236}">
                <a16:creationId xmlns:a16="http://schemas.microsoft.com/office/drawing/2014/main" id="{DEAC3294-5F05-42C9-53AD-68D900BD77CE}"/>
              </a:ext>
            </a:extLst>
          </p:cNvPr>
          <p:cNvSpPr txBox="1"/>
          <p:nvPr/>
        </p:nvSpPr>
        <p:spPr>
          <a:xfrm>
            <a:off x="1385866" y="4686381"/>
            <a:ext cx="593111" cy="6155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11</a:t>
            </a:r>
          </a:p>
        </p:txBody>
      </p:sp>
      <p:sp>
        <p:nvSpPr>
          <p:cNvPr id="7264" name="TextBox 7263">
            <a:extLst>
              <a:ext uri="{FF2B5EF4-FFF2-40B4-BE49-F238E27FC236}">
                <a16:creationId xmlns:a16="http://schemas.microsoft.com/office/drawing/2014/main" id="{0C4B8F8D-4A89-F894-88CA-D043EA19CA8A}"/>
              </a:ext>
            </a:extLst>
          </p:cNvPr>
          <p:cNvSpPr txBox="1"/>
          <p:nvPr/>
        </p:nvSpPr>
        <p:spPr>
          <a:xfrm>
            <a:off x="3592655" y="4686381"/>
            <a:ext cx="593111" cy="6155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12</a:t>
            </a:r>
          </a:p>
        </p:txBody>
      </p:sp>
      <p:sp>
        <p:nvSpPr>
          <p:cNvPr id="7265" name="TextBox 7264">
            <a:extLst>
              <a:ext uri="{FF2B5EF4-FFF2-40B4-BE49-F238E27FC236}">
                <a16:creationId xmlns:a16="http://schemas.microsoft.com/office/drawing/2014/main" id="{35D8249B-179D-430A-52AF-9C991BC34669}"/>
              </a:ext>
            </a:extLst>
          </p:cNvPr>
          <p:cNvSpPr txBox="1"/>
          <p:nvPr/>
        </p:nvSpPr>
        <p:spPr>
          <a:xfrm>
            <a:off x="5799446" y="4686381"/>
            <a:ext cx="593111" cy="6155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13</a:t>
            </a:r>
          </a:p>
        </p:txBody>
      </p:sp>
      <p:sp>
        <p:nvSpPr>
          <p:cNvPr id="7266" name="TextBox 7265">
            <a:extLst>
              <a:ext uri="{FF2B5EF4-FFF2-40B4-BE49-F238E27FC236}">
                <a16:creationId xmlns:a16="http://schemas.microsoft.com/office/drawing/2014/main" id="{DD959E37-DDCE-E129-C2F5-A419779933CE}"/>
              </a:ext>
            </a:extLst>
          </p:cNvPr>
          <p:cNvSpPr txBox="1"/>
          <p:nvPr/>
        </p:nvSpPr>
        <p:spPr>
          <a:xfrm>
            <a:off x="8006236" y="4686381"/>
            <a:ext cx="593111" cy="6155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14</a:t>
            </a:r>
          </a:p>
        </p:txBody>
      </p:sp>
      <p:sp>
        <p:nvSpPr>
          <p:cNvPr id="7267" name="TextBox 7266">
            <a:extLst>
              <a:ext uri="{FF2B5EF4-FFF2-40B4-BE49-F238E27FC236}">
                <a16:creationId xmlns:a16="http://schemas.microsoft.com/office/drawing/2014/main" id="{A52D5489-6F77-D421-9E33-FBC071A40CFF}"/>
              </a:ext>
            </a:extLst>
          </p:cNvPr>
          <p:cNvSpPr txBox="1"/>
          <p:nvPr/>
        </p:nvSpPr>
        <p:spPr>
          <a:xfrm>
            <a:off x="10213026" y="4686381"/>
            <a:ext cx="593111" cy="6155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sz="4000" b="1" dirty="0">
                <a:solidFill>
                  <a:srgbClr val="E8E5EB">
                    <a:alpha val="42000"/>
                  </a:srgbClr>
                </a:solidFill>
                <a:latin typeface="Aptos Black" panose="020B0004020202020204" pitchFamily="34" charset="0"/>
              </a:rPr>
              <a:t>15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876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4937DBA-EF2F-3EF4-2294-FA8BFE055B10}"/>
              </a:ext>
            </a:extLst>
          </p:cNvPr>
          <p:cNvSpPr/>
          <p:nvPr/>
        </p:nvSpPr>
        <p:spPr>
          <a:xfrm>
            <a:off x="-310957" y="-1569858"/>
            <a:ext cx="12813914" cy="2953815"/>
          </a:xfrm>
          <a:prstGeom prst="ellipse">
            <a:avLst/>
          </a:prstGeom>
          <a:solidFill>
            <a:srgbClr val="684F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AEEF3-7DBA-286D-35A9-BD298E7F23F9}"/>
              </a:ext>
            </a:extLst>
          </p:cNvPr>
          <p:cNvGrpSpPr/>
          <p:nvPr/>
        </p:nvGrpSpPr>
        <p:grpSpPr>
          <a:xfrm>
            <a:off x="514349" y="1714799"/>
            <a:ext cx="1543387" cy="1543387"/>
            <a:chOff x="991443" y="2022576"/>
            <a:chExt cx="1543387" cy="154338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D68773F-45FC-0485-B4C2-B51F0BDAFE4B}"/>
                </a:ext>
              </a:extLst>
            </p:cNvPr>
            <p:cNvSpPr/>
            <p:nvPr/>
          </p:nvSpPr>
          <p:spPr>
            <a:xfrm>
              <a:off x="1165784" y="2196917"/>
              <a:ext cx="1194705" cy="119470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127000" dir="5100000" sx="116000" sy="116000" algn="ctr" rotWithShape="0">
                <a:srgbClr val="CDABBE">
                  <a:alpha val="4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42310113-628D-2BF3-D40D-A993A5D5EEAB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0677023"/>
                <a:gd name="adj2" fmla="val 21416838"/>
              </a:avLst>
            </a:prstGeom>
            <a:ln w="38100">
              <a:solidFill>
                <a:srgbClr val="CDABBE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11676A7-8556-6E61-E205-B2346CA8EF9D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54129"/>
                <a:gd name="adj2" fmla="val 10372353"/>
              </a:avLst>
            </a:prstGeom>
            <a:ln w="38100">
              <a:solidFill>
                <a:srgbClr val="5237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0B5E1C3-B74F-AB4D-2232-48059A859E97}"/>
              </a:ext>
            </a:extLst>
          </p:cNvPr>
          <p:cNvSpPr txBox="1"/>
          <p:nvPr/>
        </p:nvSpPr>
        <p:spPr>
          <a:xfrm>
            <a:off x="514349" y="3523868"/>
            <a:ext cx="2687359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000" dirty="0">
                <a:latin typeface="Aptos ExtraBold" panose="020B0004020202020204" pitchFamily="34" charset="0"/>
              </a:rPr>
              <a:t>Analytics /</a:t>
            </a:r>
            <a:br>
              <a:rPr lang="en-US" sz="2000" dirty="0">
                <a:latin typeface="Aptos ExtraBold" panose="020B0004020202020204" pitchFamily="34" charset="0"/>
              </a:rPr>
            </a:br>
            <a:r>
              <a:rPr lang="en-US" sz="2000" dirty="0">
                <a:latin typeface="Aptos ExtraBold" panose="020B0004020202020204" pitchFamily="34" charset="0"/>
              </a:rPr>
              <a:t>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5C018-5578-774F-5EE2-5A203ACCE409}"/>
              </a:ext>
            </a:extLst>
          </p:cNvPr>
          <p:cNvSpPr txBox="1"/>
          <p:nvPr/>
        </p:nvSpPr>
        <p:spPr>
          <a:xfrm>
            <a:off x="3338868" y="4283851"/>
            <a:ext cx="2687359" cy="3077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000" dirty="0">
                <a:latin typeface="Aptos ExtraBold" panose="020B0004020202020204" pitchFamily="34" charset="0"/>
              </a:rPr>
              <a:t>Technology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80EC1-9C39-4EB9-7932-84D6E1899440}"/>
              </a:ext>
            </a:extLst>
          </p:cNvPr>
          <p:cNvSpPr txBox="1"/>
          <p:nvPr/>
        </p:nvSpPr>
        <p:spPr>
          <a:xfrm>
            <a:off x="6163388" y="4283851"/>
            <a:ext cx="2687359" cy="3077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000" dirty="0">
                <a:latin typeface="Aptos ExtraBold" panose="020B0004020202020204" pitchFamily="34" charset="0"/>
              </a:rPr>
              <a:t>Product / Process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4FB309-7341-AF1F-F9FD-87F5CEE82A88}"/>
              </a:ext>
            </a:extLst>
          </p:cNvPr>
          <p:cNvSpPr txBox="1"/>
          <p:nvPr/>
        </p:nvSpPr>
        <p:spPr>
          <a:xfrm>
            <a:off x="8987907" y="3523867"/>
            <a:ext cx="2687359" cy="6155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000" dirty="0">
                <a:latin typeface="Aptos ExtraBold" panose="020B0004020202020204" pitchFamily="34" charset="0"/>
              </a:rPr>
              <a:t>Networking/Cyber </a:t>
            </a:r>
          </a:p>
          <a:p>
            <a:r>
              <a:rPr lang="en-US" sz="2000" dirty="0">
                <a:latin typeface="Aptos ExtraBold" panose="020B0004020202020204" pitchFamily="34" charset="0"/>
              </a:rPr>
              <a:t>Security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26B425-920E-69D8-7798-4E6CC630EFD6}"/>
              </a:ext>
            </a:extLst>
          </p:cNvPr>
          <p:cNvGrpSpPr/>
          <p:nvPr/>
        </p:nvGrpSpPr>
        <p:grpSpPr>
          <a:xfrm>
            <a:off x="3338868" y="2474782"/>
            <a:ext cx="1543387" cy="1543387"/>
            <a:chOff x="991443" y="2022576"/>
            <a:chExt cx="1543387" cy="154338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DCC9DB7-EDEA-63AC-EA59-4988F7BADE8D}"/>
                </a:ext>
              </a:extLst>
            </p:cNvPr>
            <p:cNvSpPr/>
            <p:nvPr/>
          </p:nvSpPr>
          <p:spPr>
            <a:xfrm>
              <a:off x="1165784" y="2196917"/>
              <a:ext cx="1194705" cy="119470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127000" dir="5100000" sx="116000" sy="116000" algn="ctr" rotWithShape="0">
                <a:srgbClr val="CDABBE">
                  <a:alpha val="4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CBF814C-9624-A5EC-FDBE-2F5174F8EF69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0677023"/>
                <a:gd name="adj2" fmla="val 21416838"/>
              </a:avLst>
            </a:prstGeom>
            <a:ln w="38100">
              <a:solidFill>
                <a:srgbClr val="CDABBE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1BB73546-1F91-801C-4D80-EC9823E3A4AB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54129"/>
                <a:gd name="adj2" fmla="val 10372353"/>
              </a:avLst>
            </a:prstGeom>
            <a:ln w="38100">
              <a:solidFill>
                <a:srgbClr val="5237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FE3EC2-4F68-9D6A-79DD-D6F26D4ED3E3}"/>
              </a:ext>
            </a:extLst>
          </p:cNvPr>
          <p:cNvGrpSpPr/>
          <p:nvPr/>
        </p:nvGrpSpPr>
        <p:grpSpPr>
          <a:xfrm>
            <a:off x="6163388" y="2474782"/>
            <a:ext cx="1543387" cy="1543387"/>
            <a:chOff x="991443" y="2022576"/>
            <a:chExt cx="1543387" cy="154338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59E0359-43FD-0808-25AD-CC716FFE15A0}"/>
                </a:ext>
              </a:extLst>
            </p:cNvPr>
            <p:cNvSpPr/>
            <p:nvPr/>
          </p:nvSpPr>
          <p:spPr>
            <a:xfrm>
              <a:off x="1165784" y="2196917"/>
              <a:ext cx="1194705" cy="119470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127000" dir="5100000" sx="116000" sy="116000" algn="ctr" rotWithShape="0">
                <a:srgbClr val="CDABBE">
                  <a:alpha val="4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D86D9A2B-2DEE-01DD-F341-88B1C3FDAC9E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0677023"/>
                <a:gd name="adj2" fmla="val 21416838"/>
              </a:avLst>
            </a:prstGeom>
            <a:ln w="38100">
              <a:solidFill>
                <a:srgbClr val="CDABBE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A7B33DAA-0FAF-0489-58B6-48D28A695857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54129"/>
                <a:gd name="adj2" fmla="val 10372353"/>
              </a:avLst>
            </a:prstGeom>
            <a:ln w="38100">
              <a:solidFill>
                <a:srgbClr val="5237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EA72C6-8D63-0A44-F7E4-6D80DB330AE2}"/>
              </a:ext>
            </a:extLst>
          </p:cNvPr>
          <p:cNvGrpSpPr/>
          <p:nvPr/>
        </p:nvGrpSpPr>
        <p:grpSpPr>
          <a:xfrm>
            <a:off x="8987907" y="1714799"/>
            <a:ext cx="1543387" cy="1543387"/>
            <a:chOff x="991443" y="2022576"/>
            <a:chExt cx="1543387" cy="154338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9FAD9F9-B6E0-EE25-40EA-3E449BDBAE41}"/>
                </a:ext>
              </a:extLst>
            </p:cNvPr>
            <p:cNvSpPr/>
            <p:nvPr/>
          </p:nvSpPr>
          <p:spPr>
            <a:xfrm>
              <a:off x="1165784" y="2196917"/>
              <a:ext cx="1194705" cy="119470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127000" dir="5100000" sx="116000" sy="116000" algn="ctr" rotWithShape="0">
                <a:srgbClr val="CDABBE">
                  <a:alpha val="4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0E8F4AF8-2687-C01E-61FA-3E6A55F054E2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0677023"/>
                <a:gd name="adj2" fmla="val 21416838"/>
              </a:avLst>
            </a:prstGeom>
            <a:ln w="38100">
              <a:solidFill>
                <a:srgbClr val="CDABBE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1EB14DB2-4BE9-60EF-DCF1-444B9BD90D64}"/>
                </a:ext>
              </a:extLst>
            </p:cNvPr>
            <p:cNvSpPr/>
            <p:nvPr/>
          </p:nvSpPr>
          <p:spPr>
            <a:xfrm>
              <a:off x="991443" y="2022576"/>
              <a:ext cx="1543387" cy="1543387"/>
            </a:xfrm>
            <a:prstGeom prst="arc">
              <a:avLst>
                <a:gd name="adj1" fmla="val 154129"/>
                <a:gd name="adj2" fmla="val 10372353"/>
              </a:avLst>
            </a:prstGeom>
            <a:ln w="38100">
              <a:solidFill>
                <a:srgbClr val="5237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8F938F7-D129-4217-7988-BDD5A96D6F78}"/>
              </a:ext>
            </a:extLst>
          </p:cNvPr>
          <p:cNvSpPr txBox="1"/>
          <p:nvPr/>
        </p:nvSpPr>
        <p:spPr>
          <a:xfrm>
            <a:off x="514349" y="4208425"/>
            <a:ext cx="2687359" cy="184665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Artificial Intelligence, Machine Learning, Data Scientists, NLP, NoSQL, </a:t>
            </a:r>
            <a:r>
              <a:rPr lang="en-US" sz="1200" dirty="0" err="1">
                <a:latin typeface="Aptos Light" panose="020B0004020202020204" pitchFamily="34" charset="0"/>
              </a:rPr>
              <a:t>BigQuery</a:t>
            </a:r>
            <a:r>
              <a:rPr lang="en-US" sz="1200" dirty="0">
                <a:latin typeface="Aptos Light" panose="020B0004020202020204" pitchFamily="34" charset="0"/>
              </a:rPr>
              <a:t>, Blockchain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Big Data, Data Engineers, SQL, Visualization – Tableau, Power BI, QlikSense, Hadoop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Digital Analytics, Google Analytics, Adobe Analytics, Digital Marketing, Social Media Analytics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EF9168-E23C-C2D7-C061-7AB0E882E3E7}"/>
              </a:ext>
            </a:extLst>
          </p:cNvPr>
          <p:cNvSpPr txBox="1"/>
          <p:nvPr/>
        </p:nvSpPr>
        <p:spPr>
          <a:xfrm>
            <a:off x="3338868" y="4678127"/>
            <a:ext cx="2687359" cy="16619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Cloud-AWS, GCP, Azure; DevOps; Cloud Architect/Engineer, Mobility, Cyber Security, Python Dev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Front end –ReactJS, JSS, Jscript;</a:t>
            </a:r>
            <a:br>
              <a:rPr lang="en-US" sz="1200" dirty="0">
                <a:latin typeface="Aptos Light" panose="020B0004020202020204" pitchFamily="34" charset="0"/>
              </a:rPr>
            </a:br>
            <a:r>
              <a:rPr lang="en-US" sz="1200" dirty="0">
                <a:latin typeface="Aptos Light" panose="020B0004020202020204" pitchFamily="34" charset="0"/>
              </a:rPr>
              <a:t>Back end – PHP, ASP.net, Java,</a:t>
            </a:r>
            <a:br>
              <a:rPr lang="en-US" sz="1200" dirty="0">
                <a:latin typeface="Aptos Light" panose="020B0004020202020204" pitchFamily="34" charset="0"/>
              </a:rPr>
            </a:br>
            <a:r>
              <a:rPr lang="en-US" sz="1200" dirty="0">
                <a:latin typeface="Aptos Light" panose="020B0004020202020204" pitchFamily="34" charset="0"/>
              </a:rPr>
              <a:t>NodeJS, Databases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Java Full Stack – </a:t>
            </a:r>
            <a:r>
              <a:rPr lang="en-US" sz="1200" dirty="0" err="1">
                <a:latin typeface="Aptos Light" panose="020B0004020202020204" pitchFamily="34" charset="0"/>
              </a:rPr>
              <a:t>Javascript</a:t>
            </a:r>
            <a:r>
              <a:rPr lang="en-US" sz="1200" dirty="0">
                <a:latin typeface="Aptos Light" panose="020B0004020202020204" pitchFamily="34" charset="0"/>
              </a:rPr>
              <a:t>, </a:t>
            </a:r>
            <a:r>
              <a:rPr lang="en-US" sz="1200" dirty="0" err="1">
                <a:latin typeface="Aptos Light" panose="020B0004020202020204" pitchFamily="34" charset="0"/>
              </a:rPr>
              <a:t>Jquery</a:t>
            </a:r>
            <a:r>
              <a:rPr lang="en-US" sz="1200" dirty="0">
                <a:latin typeface="Aptos Light" panose="020B0004020202020204" pitchFamily="34" charset="0"/>
              </a:rPr>
              <a:t>, AngularJS, Core Java, Advanced</a:t>
            </a:r>
            <a:br>
              <a:rPr lang="en-US" sz="1200" dirty="0">
                <a:latin typeface="Aptos Light" panose="020B0004020202020204" pitchFamily="34" charset="0"/>
              </a:rPr>
            </a:br>
            <a:r>
              <a:rPr lang="en-US" sz="1200" dirty="0">
                <a:latin typeface="Aptos Light" panose="020B0004020202020204" pitchFamily="34" charset="0"/>
              </a:rPr>
              <a:t>Java, MongoDB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B747C6-536F-E953-D65B-DBC2E9A47165}"/>
              </a:ext>
            </a:extLst>
          </p:cNvPr>
          <p:cNvSpPr txBox="1"/>
          <p:nvPr/>
        </p:nvSpPr>
        <p:spPr>
          <a:xfrm>
            <a:off x="6163388" y="4678127"/>
            <a:ext cx="2687359" cy="11079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 Product Associate, Product Manager, Product Operations, Product 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Integration Managers, Implementation Managers, Salesforce, SAP, Oracle EBS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Market Research, New Product Launch,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DB6076-71C6-0F01-289C-B9C5399ED268}"/>
              </a:ext>
            </a:extLst>
          </p:cNvPr>
          <p:cNvSpPr txBox="1"/>
          <p:nvPr/>
        </p:nvSpPr>
        <p:spPr>
          <a:xfrm>
            <a:off x="8987907" y="4208425"/>
            <a:ext cx="2687359" cy="1477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Networking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Cybersecurity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QA &amp; QC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Database and Middleware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UI/UX Designers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R&amp;D Owner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Business Analyst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Light" panose="020B0004020202020204" pitchFamily="34" charset="0"/>
              </a:rPr>
              <a:t>Embedded Developer/Testing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AB1911-4D54-B9F7-27AD-B63AFD3BB4D6}"/>
              </a:ext>
            </a:extLst>
          </p:cNvPr>
          <p:cNvGrpSpPr/>
          <p:nvPr/>
        </p:nvGrpSpPr>
        <p:grpSpPr>
          <a:xfrm>
            <a:off x="1198872" y="760604"/>
            <a:ext cx="174341" cy="1013176"/>
            <a:chOff x="1198872" y="760604"/>
            <a:chExt cx="174341" cy="101317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29DAED-C73A-1E66-8CFB-05DB670CAC49}"/>
                </a:ext>
              </a:extLst>
            </p:cNvPr>
            <p:cNvSpPr/>
            <p:nvPr/>
          </p:nvSpPr>
          <p:spPr>
            <a:xfrm>
              <a:off x="1198872" y="760604"/>
              <a:ext cx="174341" cy="17434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DAB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CAE7624-24A1-F393-66A7-41F8210D8EA7}"/>
                </a:ext>
              </a:extLst>
            </p:cNvPr>
            <p:cNvSpPr/>
            <p:nvPr/>
          </p:nvSpPr>
          <p:spPr>
            <a:xfrm>
              <a:off x="1198872" y="1599439"/>
              <a:ext cx="174341" cy="17434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DAB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92F2F93-5025-888B-E44C-C107B24B14CA}"/>
                </a:ext>
              </a:extLst>
            </p:cNvPr>
            <p:cNvCxnSpPr>
              <a:stCxn id="31" idx="4"/>
              <a:endCxn id="32" idx="0"/>
            </p:cNvCxnSpPr>
            <p:nvPr/>
          </p:nvCxnSpPr>
          <p:spPr>
            <a:xfrm>
              <a:off x="1286043" y="934945"/>
              <a:ext cx="0" cy="664494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CDABB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9075E353-7515-FD93-E213-AE22A00A0DE0}"/>
              </a:ext>
            </a:extLst>
          </p:cNvPr>
          <p:cNvSpPr/>
          <p:nvPr/>
        </p:nvSpPr>
        <p:spPr>
          <a:xfrm>
            <a:off x="4023391" y="1208211"/>
            <a:ext cx="174341" cy="174341"/>
          </a:xfrm>
          <a:prstGeom prst="ellipse">
            <a:avLst/>
          </a:prstGeom>
          <a:solidFill>
            <a:schemeClr val="bg1"/>
          </a:solidFill>
          <a:ln w="38100">
            <a:solidFill>
              <a:srgbClr val="CD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12FD8B-2ADE-E4C4-D06F-38C04C54AB97}"/>
              </a:ext>
            </a:extLst>
          </p:cNvPr>
          <p:cNvSpPr/>
          <p:nvPr/>
        </p:nvSpPr>
        <p:spPr>
          <a:xfrm>
            <a:off x="4023391" y="2371907"/>
            <a:ext cx="174341" cy="174341"/>
          </a:xfrm>
          <a:prstGeom prst="ellipse">
            <a:avLst/>
          </a:prstGeom>
          <a:solidFill>
            <a:schemeClr val="bg1"/>
          </a:solidFill>
          <a:ln w="38100">
            <a:solidFill>
              <a:srgbClr val="CD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52B3B4-7720-EA9F-E298-5D7CCEBEFC5A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>
            <a:off x="4110562" y="1382552"/>
            <a:ext cx="0" cy="989355"/>
          </a:xfrm>
          <a:prstGeom prst="line">
            <a:avLst/>
          </a:prstGeom>
          <a:solidFill>
            <a:schemeClr val="bg1"/>
          </a:solidFill>
          <a:ln w="19050">
            <a:solidFill>
              <a:srgbClr val="CDABB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3B05BAC-8BF7-49CB-DDDE-FF104BA5DB7E}"/>
              </a:ext>
            </a:extLst>
          </p:cNvPr>
          <p:cNvSpPr/>
          <p:nvPr/>
        </p:nvSpPr>
        <p:spPr>
          <a:xfrm>
            <a:off x="6847911" y="1281082"/>
            <a:ext cx="174341" cy="174341"/>
          </a:xfrm>
          <a:prstGeom prst="ellipse">
            <a:avLst/>
          </a:prstGeom>
          <a:solidFill>
            <a:schemeClr val="bg1"/>
          </a:solidFill>
          <a:ln w="38100">
            <a:solidFill>
              <a:srgbClr val="CD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1D75654-404B-0E32-1624-918B9A167D6B}"/>
              </a:ext>
            </a:extLst>
          </p:cNvPr>
          <p:cNvSpPr/>
          <p:nvPr/>
        </p:nvSpPr>
        <p:spPr>
          <a:xfrm>
            <a:off x="6847911" y="2384505"/>
            <a:ext cx="174341" cy="174341"/>
          </a:xfrm>
          <a:prstGeom prst="ellipse">
            <a:avLst/>
          </a:prstGeom>
          <a:solidFill>
            <a:schemeClr val="bg1"/>
          </a:solidFill>
          <a:ln w="38100">
            <a:solidFill>
              <a:srgbClr val="CD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9DD37C5-848D-B110-824A-A4C9E92AEBD8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>
            <a:off x="6935082" y="1455423"/>
            <a:ext cx="0" cy="929082"/>
          </a:xfrm>
          <a:prstGeom prst="line">
            <a:avLst/>
          </a:prstGeom>
          <a:solidFill>
            <a:schemeClr val="bg1"/>
          </a:solidFill>
          <a:ln w="19050">
            <a:solidFill>
              <a:srgbClr val="CDABB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089C236-74E3-46BE-4B48-4A88B6E55698}"/>
              </a:ext>
            </a:extLst>
          </p:cNvPr>
          <p:cNvSpPr/>
          <p:nvPr/>
        </p:nvSpPr>
        <p:spPr>
          <a:xfrm>
            <a:off x="9672430" y="1006405"/>
            <a:ext cx="174341" cy="174341"/>
          </a:xfrm>
          <a:prstGeom prst="ellipse">
            <a:avLst/>
          </a:prstGeom>
          <a:solidFill>
            <a:schemeClr val="bg1"/>
          </a:solidFill>
          <a:ln w="38100">
            <a:solidFill>
              <a:srgbClr val="CD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06D48B1-6189-ADB8-D04C-CC51C803F6F7}"/>
              </a:ext>
            </a:extLst>
          </p:cNvPr>
          <p:cNvSpPr/>
          <p:nvPr/>
        </p:nvSpPr>
        <p:spPr>
          <a:xfrm>
            <a:off x="9672430" y="1630875"/>
            <a:ext cx="174341" cy="174341"/>
          </a:xfrm>
          <a:prstGeom prst="ellipse">
            <a:avLst/>
          </a:prstGeom>
          <a:solidFill>
            <a:schemeClr val="bg1"/>
          </a:solidFill>
          <a:ln w="38100">
            <a:solidFill>
              <a:srgbClr val="CD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F5A29C-48F7-4DD1-7FBE-6B57FDBBB22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>
            <a:off x="9759601" y="1180746"/>
            <a:ext cx="0" cy="450129"/>
          </a:xfrm>
          <a:prstGeom prst="line">
            <a:avLst/>
          </a:prstGeom>
          <a:solidFill>
            <a:schemeClr val="bg1"/>
          </a:solidFill>
          <a:ln w="19050">
            <a:solidFill>
              <a:srgbClr val="CDABB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le 22">
            <a:extLst>
              <a:ext uri="{FF2B5EF4-FFF2-40B4-BE49-F238E27FC236}">
                <a16:creationId xmlns:a16="http://schemas.microsoft.com/office/drawing/2014/main" id="{5F9DF769-F73D-407B-8B83-CE95BA11055B}"/>
              </a:ext>
            </a:extLst>
          </p:cNvPr>
          <p:cNvSpPr txBox="1">
            <a:spLocks/>
          </p:cNvSpPr>
          <p:nvPr/>
        </p:nvSpPr>
        <p:spPr>
          <a:xfrm>
            <a:off x="2374674" y="252915"/>
            <a:ext cx="7442653" cy="638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  <a:latin typeface="Aptos ExtraBold" panose="020B0004020202020204" pitchFamily="34" charset="0"/>
                <a:ea typeface="+mn-ea"/>
                <a:cs typeface="+mn-cs"/>
              </a:rPr>
              <a:t>Our Expertise in IT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A5C1AE4-72AB-E56C-70DA-D73138870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93" y="2121743"/>
            <a:ext cx="729499" cy="72949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17BD1A0-3F3F-8B30-6A4F-48B346D71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812" y="2881726"/>
            <a:ext cx="729499" cy="72949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C7C91F9-3608-DAC2-81DD-3ACA4D54F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332" y="2881726"/>
            <a:ext cx="729499" cy="72949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B425328-4744-D815-0A24-D00CC81BE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4851" y="2121743"/>
            <a:ext cx="729499" cy="729499"/>
          </a:xfrm>
          <a:prstGeom prst="rect">
            <a:avLst/>
          </a:prstGeom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72BD9298-6A68-3ABE-6AA2-5FC6B35DF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146" y="6295226"/>
            <a:ext cx="1271120" cy="32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9126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ARTICULATE_DESIGN_ID_OFFICE THEME" val="YsUHdOqk"/>
  <p:tag name="ARTICULATE_DESIGN_ID_1_OFFICE THEME" val="y0NJzSqh"/>
  <p:tag name="ARTICULATE_SLIDE_THUMBNAIL_REFRESH" val="1"/>
  <p:tag name="ARTICULATE_PROJECT_OPEN" val="0"/>
  <p:tag name="ARTICULATE_SLIDE_COUNT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373</Words>
  <Application>Microsoft Office PowerPoint</Application>
  <PresentationFormat>Widescreen</PresentationFormat>
  <Paragraphs>70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 Black</vt:lpstr>
      <vt:lpstr>Aptos ExtraBold</vt:lpstr>
      <vt:lpstr>Aptos 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Industry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Negi</dc:creator>
  <cp:lastModifiedBy>Prashant Negi</cp:lastModifiedBy>
  <cp:revision>13</cp:revision>
  <dcterms:created xsi:type="dcterms:W3CDTF">2026-03-10T13:32:44Z</dcterms:created>
  <dcterms:modified xsi:type="dcterms:W3CDTF">2026-03-17T16:24:44Z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309126C0-49D4-4D58-80B8-90DC98A87889</vt:lpwstr>
  </property>
  <property fmtid="{D5CDD505-2E9C-101B-9397-08002B2CF9AE}" pid="3" name="ArticulatePath">
    <vt:lpwstr>Presentation1</vt:lpwstr>
  </property>
</Properties>
</file>